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5"/>
  </p:notesMasterIdLst>
  <p:sldIdLst>
    <p:sldId id="272" r:id="rId5"/>
    <p:sldId id="274" r:id="rId6"/>
    <p:sldId id="271" r:id="rId7"/>
    <p:sldId id="275" r:id="rId8"/>
    <p:sldId id="276" r:id="rId9"/>
    <p:sldId id="277" r:id="rId10"/>
    <p:sldId id="302" r:id="rId11"/>
    <p:sldId id="270" r:id="rId12"/>
    <p:sldId id="278" r:id="rId13"/>
    <p:sldId id="273" r:id="rId14"/>
  </p:sldIdLst>
  <p:sldSz cx="12192000" cy="6858000"/>
  <p:notesSz cx="7104063" cy="10234613"/>
  <p:defaultTextStyle>
    <a:defPPr>
      <a:defRPr lang="is-I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76E630-237C-41D7-960D-96640ECB347F}">
          <p14:sldIdLst>
            <p14:sldId id="272"/>
            <p14:sldId id="274"/>
            <p14:sldId id="271"/>
            <p14:sldId id="275"/>
            <p14:sldId id="276"/>
            <p14:sldId id="277"/>
            <p14:sldId id="302"/>
            <p14:sldId id="270"/>
            <p14:sldId id="278"/>
            <p14:sldId id="273"/>
          </p14:sldIdLst>
        </p14:section>
        <p14:section name="Untitled Section" id="{CCA532C3-6CC1-4C21-8DE0-55A02BED44B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6FA5"/>
    <a:srgbClr val="1779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41"/>
    <p:restoredTop sz="94715"/>
  </p:normalViewPr>
  <p:slideViewPr>
    <p:cSldViewPr snapToGrid="0">
      <p:cViewPr varScale="1">
        <p:scale>
          <a:sx n="107" d="100"/>
          <a:sy n="107" d="100"/>
        </p:scale>
        <p:origin x="192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s-I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3CFB-AF90-4A7F-AAD3-51FE0AE25668}" type="datetimeFigureOut">
              <a:rPr lang="is-IS" smtClean="0"/>
              <a:t>6.11.2025</a:t>
            </a:fld>
            <a:endParaRPr lang="is-I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s-I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s-I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869E0C-BC63-4EDA-B7FD-5C4A14C0B0F2}" type="slidenum">
              <a:rPr lang="is-IS" smtClean="0"/>
              <a:t>‹#›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128787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869E0C-BC63-4EDA-B7FD-5C4A14C0B0F2}" type="slidenum">
              <a:rPr lang="is-IS" smtClean="0"/>
              <a:t>1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3236842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rgbClr val="246FA5"/>
                </a:solidFill>
              </a:defRPr>
            </a:lvl1pPr>
          </a:lstStyle>
          <a:p>
            <a:r>
              <a:rPr lang="is-IS"/>
              <a:t>Verðmæti, áhættumat og meðhöndlun áhættu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s-IS"/>
              <a:t>Kynning á framkvæmd áhættumats fyrir ábyrgðarmenn upplýsingaverðmæta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96865" y="6466181"/>
            <a:ext cx="1046204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s-IS"/>
              <a:t>SL/okt.2022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3069" y="6466181"/>
            <a:ext cx="1410729" cy="365125"/>
          </a:xfrm>
          <a:prstGeom prst="rect">
            <a:avLst/>
          </a:prstGeom>
        </p:spPr>
        <p:txBody>
          <a:bodyPr/>
          <a:lstStyle/>
          <a:p>
            <a:fld id="{12370F92-FAF5-43C1-B825-9D0DB5A254A7}" type="slidenum">
              <a:rPr lang="is-IS" smtClean="0"/>
              <a:t>‹#›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3707329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838200" y="1062682"/>
            <a:ext cx="10515598" cy="0"/>
          </a:xfrm>
          <a:prstGeom prst="line">
            <a:avLst/>
          </a:prstGeom>
          <a:ln>
            <a:solidFill>
              <a:srgbClr val="246F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96865" y="6466181"/>
            <a:ext cx="1046204" cy="365125"/>
          </a:xfrm>
          <a:prstGeom prst="rect">
            <a:avLst/>
          </a:prstGeom>
        </p:spPr>
        <p:txBody>
          <a:bodyPr/>
          <a:lstStyle/>
          <a:p>
            <a:fld id="{A01A44F0-2B11-4D17-9A79-6A403720D494}" type="datetimeFigureOut">
              <a:rPr lang="is-IS" smtClean="0"/>
              <a:t>6.11.2025</a:t>
            </a:fld>
            <a:endParaRPr lang="is-I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7089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s-I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3069" y="6466181"/>
            <a:ext cx="1410729" cy="365125"/>
          </a:xfrm>
          <a:prstGeom prst="rect">
            <a:avLst/>
          </a:prstGeom>
        </p:spPr>
        <p:txBody>
          <a:bodyPr/>
          <a:lstStyle/>
          <a:p>
            <a:fld id="{12370F92-FAF5-43C1-B825-9D0DB5A254A7}" type="slidenum">
              <a:rPr lang="is-IS" smtClean="0"/>
              <a:t>‹#›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69368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96865" y="6466181"/>
            <a:ext cx="1046204" cy="365125"/>
          </a:xfrm>
          <a:prstGeom prst="rect">
            <a:avLst/>
          </a:prstGeom>
        </p:spPr>
        <p:txBody>
          <a:bodyPr/>
          <a:lstStyle/>
          <a:p>
            <a:fld id="{A01A44F0-2B11-4D17-9A79-6A403720D494}" type="datetimeFigureOut">
              <a:rPr lang="is-IS" smtClean="0"/>
              <a:t>6.11.2025</a:t>
            </a:fld>
            <a:endParaRPr lang="is-I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7089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s-I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3069" y="6466181"/>
            <a:ext cx="1410729" cy="365125"/>
          </a:xfrm>
          <a:prstGeom prst="rect">
            <a:avLst/>
          </a:prstGeom>
        </p:spPr>
        <p:txBody>
          <a:bodyPr/>
          <a:lstStyle/>
          <a:p>
            <a:fld id="{12370F92-FAF5-43C1-B825-9D0DB5A254A7}" type="slidenum">
              <a:rPr lang="is-IS" smtClean="0"/>
              <a:t>‹#›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390237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96865" y="6466181"/>
            <a:ext cx="1046204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lober Light" pitchFamily="50" charset="0"/>
              </a:defRPr>
            </a:lvl1pPr>
          </a:lstStyle>
          <a:p>
            <a:fld id="{A01A44F0-2B11-4D17-9A79-6A403720D494}" type="datetimeFigureOut">
              <a:rPr lang="is-IS" smtClean="0"/>
              <a:pPr/>
              <a:t>6.11.2025</a:t>
            </a:fld>
            <a:endParaRPr lang="is-I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470898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lober Light" pitchFamily="50" charset="0"/>
              </a:defRPr>
            </a:lvl1pPr>
          </a:lstStyle>
          <a:p>
            <a:r>
              <a:rPr lang="is-IS" b="1" err="1"/>
              <a:t>upplysingar</a:t>
            </a:r>
            <a:r>
              <a:rPr lang="is-IS" b="1"/>
              <a:t>@</a:t>
            </a:r>
            <a:r>
              <a:rPr lang="is-IS" b="1" err="1"/>
              <a:t>hagstofa.is</a:t>
            </a:r>
            <a:endParaRPr lang="is-IS" b="1"/>
          </a:p>
          <a:p>
            <a:endParaRPr lang="is-I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43069" y="6466181"/>
            <a:ext cx="1410729" cy="365125"/>
          </a:xfrm>
          <a:prstGeom prst="rect">
            <a:avLst/>
          </a:prstGeom>
        </p:spPr>
        <p:txBody>
          <a:bodyPr/>
          <a:lstStyle/>
          <a:p>
            <a:fld id="{12370F92-FAF5-43C1-B825-9D0DB5A254A7}" type="slidenum">
              <a:rPr lang="is-IS" smtClean="0"/>
              <a:t>‹#›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78880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896865" y="6466181"/>
            <a:ext cx="1046204" cy="365125"/>
          </a:xfrm>
          <a:prstGeom prst="rect">
            <a:avLst/>
          </a:prstGeom>
        </p:spPr>
        <p:txBody>
          <a:bodyPr/>
          <a:lstStyle/>
          <a:p>
            <a:fld id="{A01A44F0-2B11-4D17-9A79-6A403720D494}" type="datetimeFigureOut">
              <a:rPr lang="is-IS" smtClean="0"/>
              <a:t>6.11.2025</a:t>
            </a:fld>
            <a:endParaRPr lang="is-I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47089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s-I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43069" y="6466181"/>
            <a:ext cx="1410729" cy="365125"/>
          </a:xfrm>
          <a:prstGeom prst="rect">
            <a:avLst/>
          </a:prstGeom>
        </p:spPr>
        <p:txBody>
          <a:bodyPr/>
          <a:lstStyle/>
          <a:p>
            <a:fld id="{12370F92-FAF5-43C1-B825-9D0DB5A254A7}" type="slidenum">
              <a:rPr lang="is-IS" smtClean="0"/>
              <a:t>‹#›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171868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896865" y="6466181"/>
            <a:ext cx="1046204" cy="365125"/>
          </a:xfrm>
          <a:prstGeom prst="rect">
            <a:avLst/>
          </a:prstGeom>
        </p:spPr>
        <p:txBody>
          <a:bodyPr/>
          <a:lstStyle/>
          <a:p>
            <a:fld id="{A01A44F0-2B11-4D17-9A79-6A403720D494}" type="datetimeFigureOut">
              <a:rPr lang="is-IS" smtClean="0"/>
              <a:t>6.11.2025</a:t>
            </a:fld>
            <a:endParaRPr lang="is-I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7089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s-I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43069" y="6466181"/>
            <a:ext cx="1410729" cy="365125"/>
          </a:xfrm>
          <a:prstGeom prst="rect">
            <a:avLst/>
          </a:prstGeom>
        </p:spPr>
        <p:txBody>
          <a:bodyPr/>
          <a:lstStyle/>
          <a:p>
            <a:fld id="{12370F92-FAF5-43C1-B825-9D0DB5A254A7}" type="slidenum">
              <a:rPr lang="is-IS" smtClean="0"/>
              <a:t>‹#›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2020394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896865" y="6466181"/>
            <a:ext cx="1046204" cy="365125"/>
          </a:xfrm>
          <a:prstGeom prst="rect">
            <a:avLst/>
          </a:prstGeom>
        </p:spPr>
        <p:txBody>
          <a:bodyPr/>
          <a:lstStyle/>
          <a:p>
            <a:fld id="{A01A44F0-2B11-4D17-9A79-6A403720D494}" type="datetimeFigureOut">
              <a:rPr lang="is-IS" smtClean="0"/>
              <a:t>6.11.2025</a:t>
            </a:fld>
            <a:endParaRPr lang="is-I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47089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s-I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43069" y="6466181"/>
            <a:ext cx="1410729" cy="365125"/>
          </a:xfrm>
          <a:prstGeom prst="rect">
            <a:avLst/>
          </a:prstGeom>
        </p:spPr>
        <p:txBody>
          <a:bodyPr/>
          <a:lstStyle/>
          <a:p>
            <a:fld id="{12370F92-FAF5-43C1-B825-9D0DB5A254A7}" type="slidenum">
              <a:rPr lang="is-IS" smtClean="0"/>
              <a:t>‹#›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1222283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95632"/>
            <a:ext cx="6172200" cy="476541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96865" y="6466181"/>
            <a:ext cx="1046204" cy="365125"/>
          </a:xfrm>
          <a:prstGeom prst="rect">
            <a:avLst/>
          </a:prstGeom>
        </p:spPr>
        <p:txBody>
          <a:bodyPr/>
          <a:lstStyle/>
          <a:p>
            <a:fld id="{A01A44F0-2B11-4D17-9A79-6A403720D494}" type="datetimeFigureOut">
              <a:rPr lang="is-IS" smtClean="0"/>
              <a:t>6.11.2025</a:t>
            </a:fld>
            <a:endParaRPr lang="is-I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47089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s-I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43069" y="6466181"/>
            <a:ext cx="1410729" cy="365125"/>
          </a:xfrm>
          <a:prstGeom prst="rect">
            <a:avLst/>
          </a:prstGeom>
        </p:spPr>
        <p:txBody>
          <a:bodyPr/>
          <a:lstStyle/>
          <a:p>
            <a:fld id="{12370F92-FAF5-43C1-B825-9D0DB5A254A7}" type="slidenum">
              <a:rPr lang="is-IS" smtClean="0"/>
              <a:t>‹#›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301770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9829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s-I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96865" y="6466181"/>
            <a:ext cx="1046204" cy="365125"/>
          </a:xfrm>
          <a:prstGeom prst="rect">
            <a:avLst/>
          </a:prstGeom>
        </p:spPr>
        <p:txBody>
          <a:bodyPr/>
          <a:lstStyle/>
          <a:p>
            <a:fld id="{A01A44F0-2B11-4D17-9A79-6A403720D494}" type="datetimeFigureOut">
              <a:rPr lang="is-IS" smtClean="0"/>
              <a:t>6.11.2025</a:t>
            </a:fld>
            <a:endParaRPr lang="is-I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47089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is-I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43069" y="6466181"/>
            <a:ext cx="1410729" cy="365125"/>
          </a:xfrm>
          <a:prstGeom prst="rect">
            <a:avLst/>
          </a:prstGeom>
        </p:spPr>
        <p:txBody>
          <a:bodyPr/>
          <a:lstStyle/>
          <a:p>
            <a:fld id="{12370F92-FAF5-43C1-B825-9D0DB5A254A7}" type="slidenum">
              <a:rPr lang="is-IS" smtClean="0"/>
              <a:t>‹#›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4030132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extLst>
    <p:ext uri="{DCECCB84-F9BA-43D5-87BE-67443E8EF086}">
      <p15:sldGuideLst xmlns:p15="http://schemas.microsoft.com/office/powerpoint/2012/main">
        <p15:guide id="1" orient="horz" pos="27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293709"/>
            <a:ext cx="12192000" cy="688674"/>
          </a:xfrm>
          <a:prstGeom prst="rect">
            <a:avLst/>
          </a:prstGeom>
          <a:solidFill>
            <a:srgbClr val="246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1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8" name="Rectangle 7"/>
          <p:cNvSpPr/>
          <p:nvPr userDrawn="1"/>
        </p:nvSpPr>
        <p:spPr>
          <a:xfrm>
            <a:off x="0" y="-8944"/>
            <a:ext cx="12192000" cy="107798"/>
          </a:xfrm>
          <a:prstGeom prst="rect">
            <a:avLst/>
          </a:prstGeom>
          <a:solidFill>
            <a:srgbClr val="246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s-I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738" y="6362306"/>
            <a:ext cx="1787224" cy="40309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BDA2A9C-68F6-D0F0-3534-09ACE077A3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494" y="6319376"/>
            <a:ext cx="1319305" cy="56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77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46FA5"/>
          </a:solidFill>
          <a:latin typeface="Glober SemiBold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46FA5"/>
        </a:buClr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46FA5"/>
        </a:buClr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46FA5"/>
        </a:buClr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46FA5"/>
        </a:buClr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46FA5"/>
        </a:buClr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s-I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AutoGluon 1.4.0 documentation">
            <a:extLst>
              <a:ext uri="{FF2B5EF4-FFF2-40B4-BE49-F238E27FC236}">
                <a16:creationId xmlns:a16="http://schemas.microsoft.com/office/drawing/2014/main" id="{25D725DF-9D7C-7E4E-0938-C5ADA118F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600" y="1186039"/>
            <a:ext cx="7670800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7617E0-12D6-10D4-1AF3-0DC63225D2D6}"/>
              </a:ext>
            </a:extLst>
          </p:cNvPr>
          <p:cNvSpPr txBox="1"/>
          <p:nvPr/>
        </p:nvSpPr>
        <p:spPr>
          <a:xfrm>
            <a:off x="4051466" y="3429000"/>
            <a:ext cx="4089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1779BF"/>
                </a:solidFill>
              </a:rPr>
              <a:t>“Fast and Accurate ML in 3 Lines of Code”</a:t>
            </a:r>
            <a:endParaRPr lang="en-IS">
              <a:solidFill>
                <a:srgbClr val="1779B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E04CFC-A0AC-9304-2BFB-5101236E8E5D}"/>
              </a:ext>
            </a:extLst>
          </p:cNvPr>
          <p:cNvSpPr txBox="1"/>
          <p:nvPr/>
        </p:nvSpPr>
        <p:spPr>
          <a:xfrm>
            <a:off x="4193011" y="5384800"/>
            <a:ext cx="380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S"/>
              <a:t>Documentation: </a:t>
            </a:r>
            <a:r>
              <a:rPr lang="en-GB"/>
              <a:t>https://auto.gluon.ai/</a:t>
            </a:r>
            <a:endParaRPr lang="en-I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E32EB-640A-26E3-4561-7573ED6095BB}"/>
              </a:ext>
            </a:extLst>
          </p:cNvPr>
          <p:cNvSpPr txBox="1"/>
          <p:nvPr/>
        </p:nvSpPr>
        <p:spPr>
          <a:xfrm>
            <a:off x="2492542" y="4391526"/>
            <a:ext cx="7206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/>
              <a:t>An open-source AutoML toolkit by Amazon that automatically builds high-quality machine learning models with minimal code or tuning.</a:t>
            </a:r>
            <a:endParaRPr lang="en-IS"/>
          </a:p>
        </p:txBody>
      </p:sp>
      <p:pic>
        <p:nvPicPr>
          <p:cNvPr id="2050" name="Picture 2" descr="Amazon Web Services (AWS) Logo PNG Vector (EPS) Free Download">
            <a:extLst>
              <a:ext uri="{FF2B5EF4-FFF2-40B4-BE49-F238E27FC236}">
                <a16:creationId xmlns:a16="http://schemas.microsoft.com/office/drawing/2014/main" id="{E9166DB4-8ADB-3098-B8EE-1742B7C3E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52" y="4472100"/>
            <a:ext cx="1566848" cy="156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270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ADE69-D1B7-BFFB-7356-01C7E947C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S" dirty="0"/>
              <a:t>Time Series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2BA08-66BB-2664-CACF-D735DFDFC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/>
              <a:t>NaiveModel, SeasonalNaiveModel, AverageModel, SeasonalAverageModel, ZeroModel, ETSModel, AutoARIMAModel, AutoETSModel, AutoCESModel, ThetaModel, ADIDAModel, CrostonModel, IMAPAModel, NPTSModel, DeepARModel, DLinearModel, PatchTSTModel, SimpleFeedForwardModel, TemporalFusionTransformerModel, TiDEModel, WaveNetModel, DirectTabularModel, PerStepTabularModel, RecursiveTabularModel, ChronosModel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259273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9643C-7915-9B21-C089-71AC78D5E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S"/>
              <a:t>AutoGluon 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9BB7B-AB22-732B-633C-63F99AEE9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/>
              <a:t>Forecast future values of time series:</a:t>
            </a:r>
            <a:br>
              <a:rPr lang="en-GB"/>
            </a:br>
            <a:br>
              <a:rPr lang="en-GB" sz="1000"/>
            </a:br>
            <a:r>
              <a:rPr lang="en-GB" sz="2200">
                <a:solidFill>
                  <a:srgbClr val="246FA5"/>
                </a:solidFill>
              </a:rPr>
              <a:t>from autogluon.timeseries import TimeSeriesDataFrame, TimeSeriesPredictor</a:t>
            </a:r>
            <a:br>
              <a:rPr lang="en-GB" sz="2200">
                <a:solidFill>
                  <a:srgbClr val="246FA5"/>
                </a:solidFill>
              </a:rPr>
            </a:br>
            <a:br>
              <a:rPr lang="en-GB" sz="1000">
                <a:solidFill>
                  <a:srgbClr val="246FA5"/>
                </a:solidFill>
              </a:rPr>
            </a:br>
            <a:r>
              <a:rPr lang="en-GB" sz="2200">
                <a:solidFill>
                  <a:srgbClr val="246FA5"/>
                </a:solidFill>
              </a:rPr>
              <a:t>data = TimeSeriesDataFrame('train.csv’)</a:t>
            </a:r>
            <a:br>
              <a:rPr lang="en-GB" sz="2200">
                <a:solidFill>
                  <a:srgbClr val="246FA5"/>
                </a:solidFill>
              </a:rPr>
            </a:br>
            <a:br>
              <a:rPr lang="en-GB" sz="1000">
                <a:solidFill>
                  <a:srgbClr val="246FA5"/>
                </a:solidFill>
              </a:rPr>
            </a:br>
            <a:r>
              <a:rPr lang="en-GB" sz="2200">
                <a:solidFill>
                  <a:srgbClr val="246FA5"/>
                </a:solidFill>
              </a:rPr>
              <a:t>predictor = TimeSeriesPredictor(target='target', prediction_length=48).fit(data)</a:t>
            </a:r>
            <a:br>
              <a:rPr lang="en-GB" sz="2200">
                <a:solidFill>
                  <a:srgbClr val="246FA5"/>
                </a:solidFill>
              </a:rPr>
            </a:br>
            <a:r>
              <a:rPr lang="en-GB" sz="2200">
                <a:solidFill>
                  <a:srgbClr val="246FA5"/>
                </a:solidFill>
              </a:rPr>
              <a:t>predictions = predictor.predict(data)</a:t>
            </a:r>
          </a:p>
          <a:p>
            <a:r>
              <a:rPr lang="en-GB"/>
              <a:t>Trains multiple models.</a:t>
            </a:r>
          </a:p>
          <a:p>
            <a:r>
              <a:rPr lang="en-GB"/>
              <a:t>Finds the best model, features and hyperparameters – automatically.</a:t>
            </a:r>
          </a:p>
          <a:p>
            <a:r>
              <a:rPr lang="en-GB"/>
              <a:t>Automatic ensembling, combining models to improve accuracy.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43058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D580-CBC3-166D-BF6A-AF067FD8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S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58C2A-46FA-67ED-C13A-03D490165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2000">
                <a:solidFill>
                  <a:srgbClr val="246FA5"/>
                </a:solidFill>
              </a:rPr>
              <a:t>df = pd.read_parquet("Exports-by-branches-of-processing-and-countries-2015-2025.parquet")</a:t>
            </a:r>
            <a:br>
              <a:rPr lang="en-GB" sz="2000">
                <a:solidFill>
                  <a:srgbClr val="246FA5"/>
                </a:solidFill>
              </a:rPr>
            </a:br>
            <a:r>
              <a:rPr lang="en-GB" sz="2000">
                <a:solidFill>
                  <a:srgbClr val="246FA5"/>
                </a:solidFill>
              </a:rPr>
              <a:t>df_wide = ( pd.pivot_table( df, index=["Month", "Country", "Branches"], columns="Unit",</a:t>
            </a:r>
            <a:br>
              <a:rPr lang="en-GB" sz="2000">
                <a:solidFill>
                  <a:srgbClr val="246FA5"/>
                </a:solidFill>
              </a:rPr>
            </a:br>
            <a:r>
              <a:rPr lang="en-GB" sz="2000">
                <a:solidFill>
                  <a:srgbClr val="246FA5"/>
                </a:solidFill>
              </a:rPr>
              <a:t>	values="DATA", aggfunc="sum", dropna=False).reset_index()</a:t>
            </a:r>
            <a:br>
              <a:rPr lang="en-GB" sz="2000">
                <a:solidFill>
                  <a:srgbClr val="246FA5"/>
                </a:solidFill>
              </a:rPr>
            </a:br>
            <a:r>
              <a:rPr lang="en-GB" sz="2000">
                <a:solidFill>
                  <a:srgbClr val="246FA5"/>
                </a:solidFill>
              </a:rPr>
              <a:t>)</a:t>
            </a:r>
            <a:br>
              <a:rPr lang="en-GB" sz="2000">
                <a:solidFill>
                  <a:srgbClr val="246FA5"/>
                </a:solidFill>
              </a:rPr>
            </a:br>
            <a:r>
              <a:rPr lang="en-GB" sz="2000">
                <a:solidFill>
                  <a:srgbClr val="246FA5"/>
                </a:solidFill>
              </a:rPr>
              <a:t>df_wide.head()</a:t>
            </a:r>
            <a:endParaRPr lang="en-IS" sz="2000">
              <a:solidFill>
                <a:srgbClr val="246FA5"/>
              </a:solidFill>
            </a:endParaRPr>
          </a:p>
        </p:txBody>
      </p:sp>
      <p:pic>
        <p:nvPicPr>
          <p:cNvPr id="6" name="Picture 5" descr="A list of fish with black text&#10;&#10;AI-generated content may be incorrect.">
            <a:extLst>
              <a:ext uri="{FF2B5EF4-FFF2-40B4-BE49-F238E27FC236}">
                <a16:creationId xmlns:a16="http://schemas.microsoft.com/office/drawing/2014/main" id="{0B06FA18-F68C-CEF2-AF9D-A527B803E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916947"/>
            <a:ext cx="7772400" cy="209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768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C74D7-708D-C39F-DC00-A1035D784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S"/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D4EB1-4A58-A320-F7DC-D4E7D1A04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>
                <a:solidFill>
                  <a:srgbClr val="246FA5"/>
                </a:solidFill>
              </a:rPr>
              <a:t>predictor = TimeSeriesPredictor(prediction_length=prediction_length, target="target",</a:t>
            </a:r>
            <a:br>
              <a:rPr lang="en-GB" sz="2000">
                <a:solidFill>
                  <a:srgbClr val="246FA5"/>
                </a:solidFill>
              </a:rPr>
            </a:br>
            <a:r>
              <a:rPr lang="en-GB" sz="2000">
                <a:solidFill>
                  <a:srgbClr val="246FA5"/>
                </a:solidFill>
              </a:rPr>
              <a:t>    freq="MS", eval_metric="WAPE",</a:t>
            </a:r>
            <a:br>
              <a:rPr lang="en-GB" sz="2000">
                <a:solidFill>
                  <a:srgbClr val="246FA5"/>
                </a:solidFill>
              </a:rPr>
            </a:br>
            <a:r>
              <a:rPr lang="en-GB" sz="2000">
                <a:solidFill>
                  <a:srgbClr val="246FA5"/>
                </a:solidFill>
              </a:rPr>
              <a:t>    known_covariates_names=["month_sin", "month_cos"]</a:t>
            </a:r>
            <a:br>
              <a:rPr lang="en-GB" sz="2000">
                <a:solidFill>
                  <a:srgbClr val="246FA5"/>
                </a:solidFill>
              </a:rPr>
            </a:br>
            <a:r>
              <a:rPr lang="en-GB" sz="2000">
                <a:solidFill>
                  <a:srgbClr val="246FA5"/>
                </a:solidFill>
              </a:rPr>
              <a:t>)</a:t>
            </a:r>
          </a:p>
          <a:p>
            <a:pPr marL="0" indent="0">
              <a:buNone/>
            </a:pPr>
            <a:r>
              <a:rPr lang="en-GB" sz="2000">
                <a:solidFill>
                  <a:srgbClr val="246FA5"/>
                </a:solidFill>
              </a:rPr>
              <a:t>predictor.fit(ts_train, presets="</a:t>
            </a:r>
            <a:r>
              <a:rPr lang="en-GB" sz="2000">
                <a:solidFill>
                  <a:srgbClr val="C00000"/>
                </a:solidFill>
              </a:rPr>
              <a:t>medium_quality</a:t>
            </a:r>
            <a:r>
              <a:rPr lang="en-GB" sz="2000">
                <a:solidFill>
                  <a:srgbClr val="246FA5"/>
                </a:solidFill>
              </a:rPr>
              <a:t>", time_limit=</a:t>
            </a:r>
            <a:r>
              <a:rPr lang="en-GB" sz="2000">
                <a:solidFill>
                  <a:srgbClr val="C00000"/>
                </a:solidFill>
              </a:rPr>
              <a:t>600</a:t>
            </a:r>
            <a:r>
              <a:rPr lang="en-GB" sz="2000">
                <a:solidFill>
                  <a:srgbClr val="246FA5"/>
                </a:solidFill>
              </a:rPr>
              <a:t>, random_seed=42)</a:t>
            </a:r>
            <a:endParaRPr lang="en-IS" sz="2000">
              <a:solidFill>
                <a:srgbClr val="246FA5"/>
              </a:solidFill>
            </a:endParaRPr>
          </a:p>
          <a:p>
            <a:pPr marL="0" indent="0">
              <a:buNone/>
            </a:pPr>
            <a:endParaRPr lang="en-IS" sz="2000"/>
          </a:p>
          <a:p>
            <a:pPr marL="0" indent="0">
              <a:buNone/>
            </a:pPr>
            <a:r>
              <a:rPr lang="en-GB" sz="2000"/>
              <a:t>Starting training. Start time is 2025-10-29 11:10:12</a:t>
            </a:r>
            <a:br>
              <a:rPr lang="en-GB" sz="2000"/>
            </a:br>
            <a:r>
              <a:rPr lang="en-GB" sz="2000"/>
              <a:t>Models that will be trained: [</a:t>
            </a:r>
            <a:r>
              <a:rPr lang="en-GB" sz="2000">
                <a:solidFill>
                  <a:schemeClr val="accent2"/>
                </a:solidFill>
              </a:rPr>
              <a:t>'Naive</a:t>
            </a:r>
            <a:r>
              <a:rPr lang="en-GB" sz="2000"/>
              <a:t>', </a:t>
            </a:r>
            <a:r>
              <a:rPr lang="en-GB" sz="2000">
                <a:solidFill>
                  <a:schemeClr val="accent2"/>
                </a:solidFill>
              </a:rPr>
              <a:t>'SeasonalNaive</a:t>
            </a:r>
            <a:r>
              <a:rPr lang="en-GB" sz="2000"/>
              <a:t>', </a:t>
            </a:r>
            <a:r>
              <a:rPr lang="en-GB" sz="2000">
                <a:solidFill>
                  <a:schemeClr val="accent2"/>
                </a:solidFill>
              </a:rPr>
              <a:t>'RecursiveTabular</a:t>
            </a:r>
            <a:r>
              <a:rPr lang="en-GB" sz="2000"/>
              <a:t>', </a:t>
            </a:r>
            <a:r>
              <a:rPr lang="en-GB" sz="2000">
                <a:solidFill>
                  <a:schemeClr val="accent2"/>
                </a:solidFill>
              </a:rPr>
              <a:t>'DirectTabular</a:t>
            </a:r>
            <a:r>
              <a:rPr lang="en-GB" sz="2000"/>
              <a:t>', </a:t>
            </a:r>
            <a:r>
              <a:rPr lang="en-GB" sz="2000">
                <a:solidFill>
                  <a:schemeClr val="accent2"/>
                </a:solidFill>
              </a:rPr>
              <a:t>'ETS</a:t>
            </a:r>
            <a:r>
              <a:rPr lang="en-GB" sz="2000"/>
              <a:t>', </a:t>
            </a:r>
            <a:r>
              <a:rPr lang="en-GB" sz="2000">
                <a:solidFill>
                  <a:schemeClr val="accent2"/>
                </a:solidFill>
              </a:rPr>
              <a:t>'Theta</a:t>
            </a:r>
            <a:r>
              <a:rPr lang="en-GB" sz="2000"/>
              <a:t>', '</a:t>
            </a:r>
            <a:r>
              <a:rPr lang="en-GB" sz="2000">
                <a:solidFill>
                  <a:schemeClr val="accent2"/>
                </a:solidFill>
              </a:rPr>
              <a:t>Chronos[bolt_small]</a:t>
            </a:r>
            <a:r>
              <a:rPr lang="en-GB" sz="2000"/>
              <a:t>', </a:t>
            </a:r>
            <a:r>
              <a:rPr lang="en-GB" sz="2000">
                <a:solidFill>
                  <a:schemeClr val="accent2"/>
                </a:solidFill>
              </a:rPr>
              <a:t>'TemporalFusionTransformer</a:t>
            </a:r>
            <a:r>
              <a:rPr lang="en-GB" sz="2000"/>
              <a:t>’]</a:t>
            </a:r>
            <a:br>
              <a:rPr lang="en-GB" sz="2000"/>
            </a:br>
            <a:r>
              <a:rPr lang="en-GB" sz="2000"/>
              <a:t>…</a:t>
            </a:r>
            <a:br>
              <a:rPr lang="en-GB" sz="2000"/>
            </a:br>
            <a:r>
              <a:rPr lang="en-GB" sz="2000"/>
              <a:t>Total runtime: 199.19 s</a:t>
            </a:r>
            <a:br>
              <a:rPr lang="en-GB" sz="2000"/>
            </a:br>
            <a:r>
              <a:rPr lang="en-GB" sz="2000"/>
              <a:t>Best model: WeightedEnsemble</a:t>
            </a:r>
            <a:br>
              <a:rPr lang="en-GB" sz="2000"/>
            </a:br>
            <a:r>
              <a:rPr lang="en-GB" sz="2000"/>
              <a:t>Best model score: -0.4508</a:t>
            </a:r>
          </a:p>
          <a:p>
            <a:pPr marL="0" indent="0">
              <a:buNone/>
            </a:pP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404291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43CDA-905A-A3B6-0876-4166A2D60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S"/>
              <a:t>Best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7F2EB-61E6-D191-B540-1A778CFB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Best model: WeightedEnsemble</a:t>
            </a:r>
          </a:p>
          <a:p>
            <a:pPr marL="0" indent="0">
              <a:buNone/>
            </a:pPr>
            <a:r>
              <a:rPr lang="en-GB"/>
              <a:t>Ensemble validation WAPE: 0.450764497201321</a:t>
            </a:r>
          </a:p>
          <a:p>
            <a:pPr marL="0" indent="0">
              <a:buNone/>
            </a:pPr>
            <a:r>
              <a:rPr lang="en-GB"/>
              <a:t>Base models and weights:</a:t>
            </a:r>
          </a:p>
          <a:p>
            <a:pPr marL="0" indent="0">
              <a:buNone/>
            </a:pPr>
            <a:r>
              <a:rPr lang="en-GB"/>
              <a:t>  - SeasonalNaive           		weight=0.0341  val_RMSE=0.611</a:t>
            </a:r>
          </a:p>
          <a:p>
            <a:pPr marL="0" indent="0">
              <a:buNone/>
            </a:pPr>
            <a:r>
              <a:rPr lang="en-GB"/>
              <a:t>  - RecursiveTabular        		weight=0.1932  val_RMSE=0.518</a:t>
            </a:r>
          </a:p>
          <a:p>
            <a:pPr marL="0" indent="0">
              <a:buNone/>
            </a:pPr>
            <a:r>
              <a:rPr lang="en-GB"/>
              <a:t>  - Theta                   			weight=0.1250  val_RMSE=0.506</a:t>
            </a:r>
          </a:p>
          <a:p>
            <a:pPr marL="0" indent="0">
              <a:buNone/>
            </a:pPr>
            <a:r>
              <a:rPr lang="en-GB"/>
              <a:t>  - </a:t>
            </a:r>
            <a:r>
              <a:rPr lang="en-GB" b="1"/>
              <a:t>Chronos[bolt_small]     	weight=</a:t>
            </a:r>
            <a:r>
              <a:rPr lang="en-GB" b="1">
                <a:solidFill>
                  <a:srgbClr val="C00000"/>
                </a:solidFill>
              </a:rPr>
              <a:t>0.4886</a:t>
            </a:r>
            <a:r>
              <a:rPr lang="en-GB" b="1"/>
              <a:t>  val_RMSE=0.474</a:t>
            </a:r>
          </a:p>
          <a:p>
            <a:pPr marL="0" indent="0">
              <a:buNone/>
            </a:pPr>
            <a:r>
              <a:rPr lang="en-GB"/>
              <a:t>  - TemporalFusionTransformer  weight=0.1591  val_RMSE=0.557</a:t>
            </a:r>
            <a:endParaRPr lang="en-IS"/>
          </a:p>
        </p:txBody>
      </p:sp>
    </p:spTree>
    <p:extLst>
      <p:ext uri="{BB962C8B-B14F-4D97-AF65-F5344CB8AC3E}">
        <p14:creationId xmlns:p14="http://schemas.microsoft.com/office/powerpoint/2010/main" val="3838617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5424E-2B81-6ACF-A2DC-CFCCD516E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S"/>
              <a:t>Ensemble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13C90-4FE3-95C0-B536-B377CFDF2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 err="1"/>
              <a:t>SeasonalNaive</a:t>
            </a:r>
            <a:r>
              <a:rPr lang="en-GB" dirty="0"/>
              <a:t> → repeats past seasonal values (simple but strong baseline).</a:t>
            </a:r>
          </a:p>
          <a:p>
            <a:r>
              <a:rPr lang="en-GB" b="1" dirty="0" err="1"/>
              <a:t>RecursiveTabular</a:t>
            </a:r>
            <a:r>
              <a:rPr lang="en-GB" dirty="0"/>
              <a:t> → trains a tabular regressor on lag features, predicts one step at a time recursively.</a:t>
            </a:r>
          </a:p>
          <a:p>
            <a:r>
              <a:rPr lang="en-GB" b="1" dirty="0"/>
              <a:t>Theta</a:t>
            </a:r>
            <a:r>
              <a:rPr lang="en-GB" dirty="0"/>
              <a:t> → a combination of trend + exponential smoothing components.</a:t>
            </a:r>
            <a:endParaRPr lang="en-GB" b="1" dirty="0"/>
          </a:p>
          <a:p>
            <a:r>
              <a:rPr lang="en-GB" b="1" dirty="0" err="1"/>
              <a:t>ChronosFineTuned</a:t>
            </a:r>
            <a:r>
              <a:rPr lang="en-GB" b="1" dirty="0"/>
              <a:t>[</a:t>
            </a:r>
            <a:r>
              <a:rPr lang="en-GB" b="1" dirty="0" err="1"/>
              <a:t>bolt_small</a:t>
            </a:r>
            <a:r>
              <a:rPr lang="en-GB" b="1" dirty="0"/>
              <a:t>]</a:t>
            </a:r>
            <a:r>
              <a:rPr lang="en-GB" dirty="0"/>
              <a:t> → small Chronos transformer, fine-tuned on the dataset.</a:t>
            </a:r>
          </a:p>
          <a:p>
            <a:r>
              <a:rPr lang="en-GB" b="1" dirty="0" err="1"/>
              <a:t>TemporalFusionTransformer</a:t>
            </a:r>
            <a:r>
              <a:rPr lang="en-GB" b="1" dirty="0"/>
              <a:t> (TFT)</a:t>
            </a:r>
            <a:r>
              <a:rPr lang="en-GB" dirty="0"/>
              <a:t> → attention-based deep model combining static + dynamic features.</a:t>
            </a:r>
          </a:p>
        </p:txBody>
      </p:sp>
    </p:spTree>
    <p:extLst>
      <p:ext uri="{BB962C8B-B14F-4D97-AF65-F5344CB8AC3E}">
        <p14:creationId xmlns:p14="http://schemas.microsoft.com/office/powerpoint/2010/main" val="61949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F74B7-695B-D935-F037-F7F7B2E0A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S"/>
              <a:t>Test Set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82F6C-05C5-F61D-F2D9-D0FB80058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S"/>
              <a:t>Overall metrics:</a:t>
            </a:r>
          </a:p>
          <a:p>
            <a:r>
              <a:rPr lang="en-GB"/>
              <a:t>WAPE: 40.91%</a:t>
            </a:r>
          </a:p>
          <a:p>
            <a:r>
              <a:rPr lang="en-GB"/>
              <a:t>Accuracy: 59.09%</a:t>
            </a:r>
          </a:p>
          <a:p>
            <a:r>
              <a:rPr lang="en-GB"/>
              <a:t>R²: 0.938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BB123-7B10-C267-3E83-0DCD8EF68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189442"/>
            <a:ext cx="7693380" cy="380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540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FDF5B2-B615-4631-2200-BF73A0968F82}"/>
              </a:ext>
            </a:extLst>
          </p:cNvPr>
          <p:cNvSpPr/>
          <p:nvPr/>
        </p:nvSpPr>
        <p:spPr>
          <a:xfrm>
            <a:off x="625642" y="794084"/>
            <a:ext cx="10912642" cy="5895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A9F47EA-10F6-4E9F-2119-23B28ECB3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788" y="154659"/>
            <a:ext cx="6256424" cy="3093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27C334-9E71-941B-26C2-01DC55F7B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788" y="3187681"/>
            <a:ext cx="6256424" cy="3093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602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2B598-6B45-48CE-2DEF-394B7646A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S"/>
              <a:t>AutoGluon on Google Colab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3E24EFC-BB03-8C34-EBAF-B42C22D33B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66336"/>
            <a:ext cx="7289800" cy="1371600"/>
          </a:xfrm>
        </p:spPr>
      </p:pic>
    </p:spTree>
    <p:extLst>
      <p:ext uri="{BB962C8B-B14F-4D97-AF65-F5344CB8AC3E}">
        <p14:creationId xmlns:p14="http://schemas.microsoft.com/office/powerpoint/2010/main" val="105351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agstofa_2019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Glober Book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36151C08-437C-41B0-A38F-332CD50D785A}" vid="{6FF04D12-2591-4DFC-B297-AE5F8D047A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5070F28C0A3F4B9D012D9718F60CA7" ma:contentTypeVersion="14" ma:contentTypeDescription="Create a new document." ma:contentTypeScope="" ma:versionID="b4f655af1375f073330c7735ae6bb2cf">
  <xsd:schema xmlns:xsd="http://www.w3.org/2001/XMLSchema" xmlns:xs="http://www.w3.org/2001/XMLSchema" xmlns:p="http://schemas.microsoft.com/office/2006/metadata/properties" xmlns:ns2="edfbc255-089e-4299-a14d-25d319dd551f" xmlns:ns3="5ae27449-439c-4b1d-ac4a-86c83ddc9b32" targetNamespace="http://schemas.microsoft.com/office/2006/metadata/properties" ma:root="true" ma:fieldsID="9486f1d7b5f53dc40f93b03a6ca4623e" ns2:_="" ns3:_="">
    <xsd:import namespace="edfbc255-089e-4299-a14d-25d319dd551f"/>
    <xsd:import namespace="5ae27449-439c-4b1d-ac4a-86c83ddc9b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fbc255-089e-4299-a14d-25d319dd55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e4970455-bdf1-4299-8c3c-b3ce243de7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e27449-439c-4b1d-ac4a-86c83ddc9b32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a77cf2d3-45dd-46d1-b380-519aa59c696a}" ma:internalName="TaxCatchAll" ma:showField="CatchAllData" ma:web="5ae27449-439c-4b1d-ac4a-86c83ddc9b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fbc255-089e-4299-a14d-25d319dd551f">
      <Terms xmlns="http://schemas.microsoft.com/office/infopath/2007/PartnerControls"/>
    </lcf76f155ced4ddcb4097134ff3c332f>
    <TaxCatchAll xmlns="5ae27449-439c-4b1d-ac4a-86c83ddc9b32" xsi:nil="true"/>
    <SharedWithUsers xmlns="5ae27449-439c-4b1d-ac4a-86c83ddc9b32">
      <UserInfo>
        <DisplayName>Anton Örn Karlsson - HAGS</DisplayName>
        <AccountId>24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62699742-F102-466F-BC44-02D82D4D0268}">
  <ds:schemaRefs>
    <ds:schemaRef ds:uri="5ae27449-439c-4b1d-ac4a-86c83ddc9b32"/>
    <ds:schemaRef ds:uri="edfbc255-089e-4299-a14d-25d319dd55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AAAE6BD-A88B-411C-B3BC-7B89A43AA9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53532AB-A9D0-4E57-91C5-463C1414567B}">
  <ds:schemaRefs>
    <ds:schemaRef ds:uri="5ae27449-439c-4b1d-ac4a-86c83ddc9b32"/>
    <ds:schemaRef ds:uri="edfbc255-089e-4299-a14d-25d319dd551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2731</TotalTime>
  <Words>554</Words>
  <Application>Microsoft Macintosh PowerPoint</Application>
  <PresentationFormat>Widescreen</PresentationFormat>
  <Paragraphs>39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Glober Book</vt:lpstr>
      <vt:lpstr>Glober Light</vt:lpstr>
      <vt:lpstr>Glober SemiBold</vt:lpstr>
      <vt:lpstr>Hagstofa_2019</vt:lpstr>
      <vt:lpstr>PowerPoint Presentation</vt:lpstr>
      <vt:lpstr>Time Series Models</vt:lpstr>
      <vt:lpstr>AutoGluon Time Series</vt:lpstr>
      <vt:lpstr>Data Preparation</vt:lpstr>
      <vt:lpstr>Model Training</vt:lpstr>
      <vt:lpstr>Best Model</vt:lpstr>
      <vt:lpstr>Ensemble Models</vt:lpstr>
      <vt:lpstr>Test Set Metrics</vt:lpstr>
      <vt:lpstr>PowerPoint Presentation</vt:lpstr>
      <vt:lpstr>AutoGluon on Google Colab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Flemming Kaj Larsen Karlsson</dc:creator>
  <cp:lastModifiedBy>Thor Curtis</cp:lastModifiedBy>
  <cp:revision>36</cp:revision>
  <cp:lastPrinted>2024-11-22T17:34:15Z</cp:lastPrinted>
  <dcterms:created xsi:type="dcterms:W3CDTF">2019-08-14T13:43:57Z</dcterms:created>
  <dcterms:modified xsi:type="dcterms:W3CDTF">2025-11-06T10:37:27Z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0x010100565070F28C0A3F4B9D012D9718F60CA7</vt:lpwstr>
  </property>
  <property fmtid="{D5CDD505-2E9C-101B-9397-08002B2CF9AE}" pid="3" name="MediaServiceImageTags">
    <vt:lpwstr/>
  </property>
</Properties>
</file>